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57" r:id="rId4"/>
    <p:sldId id="258" r:id="rId5"/>
    <p:sldId id="259" r:id="rId6"/>
    <p:sldId id="260" r:id="rId7"/>
    <p:sldId id="271" r:id="rId8"/>
    <p:sldId id="272" r:id="rId9"/>
    <p:sldId id="273" r:id="rId10"/>
    <p:sldId id="274" r:id="rId11"/>
    <p:sldId id="276" r:id="rId12"/>
    <p:sldId id="277" r:id="rId13"/>
    <p:sldId id="278" r:id="rId14"/>
    <p:sldId id="261" r:id="rId15"/>
    <p:sldId id="262" r:id="rId16"/>
    <p:sldId id="263" r:id="rId17"/>
    <p:sldId id="264" r:id="rId18"/>
    <p:sldId id="265" r:id="rId19"/>
    <p:sldId id="266" r:id="rId20"/>
    <p:sldId id="267" r:id="rId21"/>
    <p:sldId id="279" r:id="rId22"/>
    <p:sldId id="268" r:id="rId23"/>
    <p:sldId id="269" r:id="rId24"/>
    <p:sldId id="270" r:id="rId25"/>
  </p:sldIdLst>
  <p:sldSz cx="1219136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822960" y="1371600"/>
            <a:ext cx="7826375" cy="1445260"/>
          </a:xfrm>
          <a:prstGeom prst="rect">
            <a:avLst/>
          </a:prstGeom>
          <a:noFill/>
        </p:spPr>
        <p:txBody>
          <a:bodyPr wrap="none">
            <a:spAutoFit/>
          </a:bodyPr>
          <a:lstStyle/>
          <a:p>
            <a:pPr algn="l">
              <a:defRPr sz="3400" b="1"/>
            </a:pPr>
            <a:r>
              <a:t>Seasonal Agriculture Performance Analysis</a:t>
            </a:r>
          </a:p>
          <a:p>
            <a:pPr algn="l">
              <a:defRPr sz="2000"/>
            </a:pPr>
            <a:r>
              <a:t>Major Project – VOIS AICTE Batch 1 2026–2027</a:t>
            </a:r>
          </a:p>
          <a:p>
            <a:pPr algn="l">
              <a:defRPr sz="1800"/>
            </a:pPr>
            <a:r>
              <a:rPr b="1"/>
              <a:t>Sachi Kangutkar | D.G. Ruparel College of Arts, Science and Commerce</a:t>
            </a:r>
            <a:endParaRPr b="1"/>
          </a:p>
          <a:p>
            <a:pPr algn="l">
              <a:defRPr sz="1600"/>
            </a:pPr>
            <a:r>
              <a:rPr b="1"/>
              <a:t>AICTE STU ID: </a:t>
            </a:r>
            <a:r>
              <a:rPr lang="en-US" altLang="en-US" b="1"/>
              <a:t>STU683c6582c99651748788610</a:t>
            </a:r>
            <a:endParaRPr lang="en-US" altLang="en-US" b="1"/>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94360" y="411480"/>
            <a:ext cx="10972800" cy="640080"/>
          </a:xfrm>
          <a:prstGeom prst="rect">
            <a:avLst/>
          </a:prstGeom>
          <a:noFill/>
        </p:spPr>
        <p:txBody>
          <a:bodyPr wrap="none">
            <a:spAutoFit/>
          </a:bodyPr>
          <a:lstStyle/>
          <a:p>
            <a:pPr>
              <a:defRPr sz="2800" b="1"/>
            </a:pPr>
            <a:r>
              <a:t>Problem Statement</a:t>
            </a:r>
          </a:p>
        </p:txBody>
      </p:sp>
      <p:sp>
        <p:nvSpPr>
          <p:cNvPr id="3" name="TextBox 2"/>
          <p:cNvSpPr txBox="1"/>
          <p:nvPr/>
        </p:nvSpPr>
        <p:spPr>
          <a:xfrm>
            <a:off x="731520" y="1508760"/>
            <a:ext cx="10698480" cy="4389120"/>
          </a:xfrm>
          <a:prstGeom prst="rect">
            <a:avLst/>
          </a:prstGeom>
          <a:noFill/>
        </p:spPr>
        <p:txBody>
          <a:bodyPr wrap="square">
            <a:spAutoFit/>
          </a:bodyPr>
          <a:lstStyle/>
          <a:p>
            <a:pPr>
              <a:spcAft>
                <a:spcPts val="1000"/>
              </a:spcAft>
              <a:defRPr sz="1800"/>
            </a:pPr>
            <a:r>
              <a:t>Agricultural performance is affected by seasonal environmental conditions, farming practices, resource availability and market conditions.</a:t>
            </a:r>
          </a:p>
          <a:p>
            <a:pPr>
              <a:spcAft>
                <a:spcPts val="1000"/>
              </a:spcAft>
              <a:defRPr sz="1800"/>
            </a:pPr>
            <a:r>
              <a:t>Raw agricultural data does not directly explain how performance changes across seasons.</a:t>
            </a:r>
          </a:p>
          <a:p>
            <a:pPr>
              <a:spcAft>
                <a:spcPts val="1000"/>
              </a:spcAft>
              <a:defRPr sz="1800"/>
            </a:pPr>
            <a:r>
              <a:t>The project investigates seasonal differences using patterns, trends, relationships and variations in the supplied dataset.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94360" y="411480"/>
            <a:ext cx="10972800" cy="640080"/>
          </a:xfrm>
          <a:prstGeom prst="rect">
            <a:avLst/>
          </a:prstGeom>
          <a:noFill/>
        </p:spPr>
        <p:txBody>
          <a:bodyPr wrap="none">
            <a:spAutoFit/>
          </a:bodyPr>
          <a:lstStyle/>
          <a:p>
            <a:pPr>
              <a:defRPr sz="2800" b="1"/>
            </a:pPr>
            <a:r>
              <a:t>Project Description</a:t>
            </a:r>
          </a:p>
        </p:txBody>
      </p:sp>
      <p:sp>
        <p:nvSpPr>
          <p:cNvPr id="3" name="TextBox 2"/>
          <p:cNvSpPr txBox="1"/>
          <p:nvPr/>
        </p:nvSpPr>
        <p:spPr>
          <a:xfrm>
            <a:off x="731520" y="1508760"/>
            <a:ext cx="10698480" cy="4389120"/>
          </a:xfrm>
          <a:prstGeom prst="rect">
            <a:avLst/>
          </a:prstGeom>
          <a:noFill/>
        </p:spPr>
        <p:txBody>
          <a:bodyPr wrap="square">
            <a:spAutoFit/>
          </a:bodyPr>
          <a:lstStyle/>
          <a:p>
            <a:pPr>
              <a:spcAft>
                <a:spcPts val="1000"/>
              </a:spcAft>
              <a:defRPr sz="1800"/>
            </a:pPr>
            <a:r>
              <a:t>Analyze agricultural records across Kharif, Rabi and Zaid seasons.</a:t>
            </a:r>
          </a:p>
          <a:p>
            <a:pPr>
              <a:spcAft>
                <a:spcPts val="1000"/>
              </a:spcAft>
              <a:defRPr sz="1800"/>
            </a:pPr>
            <a:r>
              <a:t>Clean missing numeric observations and prepare data for analysis.</a:t>
            </a:r>
          </a:p>
          <a:p>
            <a:pPr>
              <a:spcAft>
                <a:spcPts val="1000"/>
              </a:spcAft>
              <a:defRPr sz="1800"/>
            </a:pPr>
            <a:r>
              <a:t>Compare yield, profit, production, water use and disease/pest risk.</a:t>
            </a:r>
          </a:p>
          <a:p>
            <a:pPr>
              <a:spcAft>
                <a:spcPts val="1000"/>
              </a:spcAft>
              <a:defRPr sz="1800"/>
            </a:pPr>
            <a:r>
              <a:t>Investigate crop-level and irrigation-level differences.</a:t>
            </a:r>
          </a:p>
          <a:p>
            <a:pPr>
              <a:spcAft>
                <a:spcPts val="1000"/>
              </a:spcAft>
              <a:defRPr sz="1800"/>
            </a:pPr>
            <a:r>
              <a:t>Present evidence-based findings and recommendations.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94360" y="411480"/>
            <a:ext cx="10972800" cy="640080"/>
          </a:xfrm>
          <a:prstGeom prst="rect">
            <a:avLst/>
          </a:prstGeom>
          <a:noFill/>
        </p:spPr>
        <p:txBody>
          <a:bodyPr wrap="none">
            <a:spAutoFit/>
          </a:bodyPr>
          <a:lstStyle/>
          <a:p>
            <a:pPr>
              <a:defRPr sz="2800" b="1"/>
            </a:pPr>
            <a:r>
              <a:t>Who Are the End Users?</a:t>
            </a:r>
          </a:p>
        </p:txBody>
      </p:sp>
      <p:sp>
        <p:nvSpPr>
          <p:cNvPr id="3" name="TextBox 2"/>
          <p:cNvSpPr txBox="1"/>
          <p:nvPr/>
        </p:nvSpPr>
        <p:spPr>
          <a:xfrm>
            <a:off x="731520" y="1508760"/>
            <a:ext cx="10698480" cy="4389120"/>
          </a:xfrm>
          <a:prstGeom prst="rect">
            <a:avLst/>
          </a:prstGeom>
          <a:noFill/>
        </p:spPr>
        <p:txBody>
          <a:bodyPr wrap="square">
            <a:spAutoFit/>
          </a:bodyPr>
          <a:lstStyle/>
          <a:p>
            <a:pPr>
              <a:spcAft>
                <a:spcPts val="1000"/>
              </a:spcAft>
              <a:defRPr sz="1800"/>
            </a:pPr>
            <a:r>
              <a:t>Farmers and farm managers – seasonal planning and resource decisions.</a:t>
            </a:r>
          </a:p>
          <a:p>
            <a:pPr>
              <a:spcAft>
                <a:spcPts val="1000"/>
              </a:spcAft>
              <a:defRPr sz="1800"/>
            </a:pPr>
            <a:r>
              <a:t>Agricultural planners – comparison of seasonal performance.</a:t>
            </a:r>
          </a:p>
          <a:p>
            <a:pPr>
              <a:spcAft>
                <a:spcPts val="1000"/>
              </a:spcAft>
              <a:defRPr sz="1800"/>
            </a:pPr>
            <a:r>
              <a:t>Analysts and researchers – identifying patterns for further investigation.</a:t>
            </a:r>
          </a:p>
          <a:p>
            <a:pPr>
              <a:spcAft>
                <a:spcPts val="1000"/>
              </a:spcAft>
              <a:defRPr sz="1800"/>
            </a:pPr>
            <a:r>
              <a:t>Agricultural organizations – evidence-based planning and monitoring.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94360" y="411480"/>
            <a:ext cx="10972800" cy="640080"/>
          </a:xfrm>
          <a:prstGeom prst="rect">
            <a:avLst/>
          </a:prstGeom>
          <a:noFill/>
        </p:spPr>
        <p:txBody>
          <a:bodyPr wrap="none">
            <a:spAutoFit/>
          </a:bodyPr>
          <a:lstStyle/>
          <a:p>
            <a:pPr>
              <a:defRPr sz="2800" b="1"/>
            </a:pPr>
            <a:r>
              <a:t>Technology Used</a:t>
            </a:r>
          </a:p>
        </p:txBody>
      </p:sp>
      <p:sp>
        <p:nvSpPr>
          <p:cNvPr id="3" name="TextBox 2"/>
          <p:cNvSpPr txBox="1"/>
          <p:nvPr/>
        </p:nvSpPr>
        <p:spPr>
          <a:xfrm>
            <a:off x="731520" y="1508760"/>
            <a:ext cx="10698480" cy="4389120"/>
          </a:xfrm>
          <a:prstGeom prst="rect">
            <a:avLst/>
          </a:prstGeom>
          <a:noFill/>
        </p:spPr>
        <p:txBody>
          <a:bodyPr wrap="square">
            <a:spAutoFit/>
          </a:bodyPr>
          <a:lstStyle/>
          <a:p>
            <a:pPr>
              <a:spcAft>
                <a:spcPts val="1000"/>
              </a:spcAft>
              <a:defRPr sz="1800"/>
            </a:pPr>
            <a:r>
              <a:t>Python 3 and Jupyter Notebook</a:t>
            </a:r>
          </a:p>
          <a:p>
            <a:pPr>
              <a:spcAft>
                <a:spcPts val="1000"/>
              </a:spcAft>
              <a:defRPr sz="1800"/>
            </a:pPr>
            <a:r>
              <a:t>Pandas and NumPy for data preparation and analysis</a:t>
            </a:r>
          </a:p>
          <a:p>
            <a:pPr>
              <a:spcAft>
                <a:spcPts val="1000"/>
              </a:spcAft>
              <a:defRPr sz="1800"/>
            </a:pPr>
            <a:r>
              <a:t>Matplotlib for visualization</a:t>
            </a:r>
          </a:p>
          <a:p>
            <a:pPr>
              <a:spcAft>
                <a:spcPts val="1000"/>
              </a:spcAft>
              <a:defRPr sz="1800"/>
            </a:pPr>
            <a:r>
              <a:t>Microsoft Excel / XLSX for dataset handling</a:t>
            </a:r>
          </a:p>
          <a:p>
            <a:pPr>
              <a:spcAft>
                <a:spcPts val="1000"/>
              </a:spcAft>
              <a:defRPr sz="1800"/>
            </a:pPr>
            <a:r>
              <a:t>Statistical summaries, grouping, correlation and comparative analysis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473710" y="605790"/>
            <a:ext cx="11015980" cy="5794375"/>
          </a:xfrm>
          <a:prstGeom prst="rect">
            <a:avLst/>
          </a:prstGeom>
          <a:noFill/>
        </p:spPr>
        <p:txBody>
          <a:bodyPr wrap="square" rtlCol="0" anchor="t">
            <a:noAutofit/>
          </a:bodyPr>
          <a:p>
            <a:r>
              <a:rPr lang="en-US" altLang="en-US"/>
              <a:t># Major Project: Seasonal Agriculture Performance Analysis</a:t>
            </a:r>
            <a:endParaRPr lang="en-US" altLang="en-US"/>
          </a:p>
          <a:p>
            <a:endParaRPr lang="en-US" altLang="en-US"/>
          </a:p>
          <a:p>
            <a:r>
              <a:rPr lang="en-US" altLang="en-US"/>
              <a:t>**Student:** Sachi Kangutkar  </a:t>
            </a:r>
            <a:endParaRPr lang="en-US" altLang="en-US"/>
          </a:p>
          <a:p>
            <a:r>
              <a:rPr lang="en-US" altLang="en-US"/>
              <a:t>**College:** D.G. Ruparel College of Arts, Science and Commerce, University of Mumbai  </a:t>
            </a:r>
            <a:endParaRPr lang="en-US" altLang="en-US"/>
          </a:p>
          <a:p>
            <a:r>
              <a:rPr lang="en-US" altLang="en-US"/>
              <a:t>**Project Type:** VOIS AICTE Batch 1 2026–2027 Major Project</a:t>
            </a:r>
            <a:endParaRPr lang="en-US" altLang="en-US"/>
          </a:p>
          <a:p>
            <a:endParaRPr lang="en-US" altLang="en-US"/>
          </a:p>
          <a:p>
            <a:r>
              <a:rPr lang="en-US" altLang="en-US"/>
              <a:t>## Problem Statement</a:t>
            </a:r>
            <a:endParaRPr lang="en-US" altLang="en-US"/>
          </a:p>
          <a:p>
            <a:r>
              <a:rPr lang="en-US" altLang="en-US"/>
              <a:t>Agricultural performance changes with seasonal environmental conditions, farming practices, resource availability and market conditions. This project analyzes the supplied agricultural dataset to identify seasonal differences, trends, relationships and variations in agricultural performance.</a:t>
            </a:r>
            <a:endParaRPr lang="en-US" altLang="en-US"/>
          </a:p>
          <a:p>
            <a:endParaRPr lang="en-US" altLang="en-US"/>
          </a:p>
          <a:p>
            <a:r>
              <a:rPr lang="en-US" altLang="en-US"/>
              <a:t>## Objectives</a:t>
            </a:r>
            <a:endParaRPr lang="en-US" altLang="en-US"/>
          </a:p>
          <a:p>
            <a:r>
              <a:rPr lang="en-US" altLang="en-US"/>
              <a:t>- Explore and understand the dataset.</a:t>
            </a:r>
            <a:endParaRPr lang="en-US" altLang="en-US"/>
          </a:p>
          <a:p>
            <a:r>
              <a:rPr lang="en-US" altLang="en-US"/>
              <a:t>- Clean and prepare the data.</a:t>
            </a:r>
            <a:endParaRPr lang="en-US" altLang="en-US"/>
          </a:p>
          <a:p>
            <a:r>
              <a:rPr lang="en-US" altLang="en-US"/>
              <a:t>- Compare agricultural performance across seasons.</a:t>
            </a:r>
            <a:endParaRPr lang="en-US" altLang="en-US"/>
          </a:p>
          <a:p>
            <a:r>
              <a:rPr lang="en-US" altLang="en-US"/>
              <a:t>- Identify seasonal patterns and trends.</a:t>
            </a:r>
            <a:endParaRPr lang="en-US" altLang="en-US"/>
          </a:p>
          <a:p>
            <a:r>
              <a:rPr lang="en-US" altLang="en-US"/>
              <a:t>- Investigate relationships between environmental/resource variables and outcomes.</a:t>
            </a:r>
            <a:endParaRPr lang="en-US" altLang="en-US"/>
          </a:p>
          <a:p>
            <a:r>
              <a:rPr lang="en-US" altLang="en-US"/>
              <a:t>- Compare crops and irrigation methods.</a:t>
            </a:r>
            <a:endParaRPr lang="en-US" altLang="en-US"/>
          </a:p>
          <a:p>
            <a:r>
              <a:rPr lang="en-US" altLang="en-US"/>
              <a:t>- Produce evidence-based conclusions and recommendations.</a:t>
            </a:r>
            <a:endParaRPr lang="en-US" altLang="en-US"/>
          </a:p>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53720" y="680720"/>
            <a:ext cx="9224010" cy="2398395"/>
          </a:xfrm>
          <a:prstGeom prst="rect">
            <a:avLst/>
          </a:prstGeom>
          <a:noFill/>
        </p:spPr>
        <p:txBody>
          <a:bodyPr wrap="square" rtlCol="0">
            <a:noAutofit/>
          </a:bodyPr>
          <a:p>
            <a:r>
              <a:rPr lang="en-US" altLang="en-US"/>
              <a:t>import pandas as pd</a:t>
            </a:r>
            <a:endParaRPr lang="en-US" altLang="en-US"/>
          </a:p>
          <a:p>
            <a:r>
              <a:rPr lang="en-US" altLang="en-US"/>
              <a:t>import numpy as np</a:t>
            </a:r>
            <a:endParaRPr lang="en-US" altLang="en-US"/>
          </a:p>
          <a:p>
            <a:r>
              <a:rPr lang="en-US" altLang="en-US"/>
              <a:t>import matplotlib.pyplot as plt</a:t>
            </a:r>
            <a:endParaRPr lang="en-US" altLang="en-US"/>
          </a:p>
          <a:p>
            <a:endParaRPr lang="en-US" altLang="en-US"/>
          </a:p>
          <a:p>
            <a:r>
              <a:rPr lang="en-US" altLang="en-US"/>
              <a:t>df = pd.read_excel("seasonal_agriculture_performance_dataset.xlsx")</a:t>
            </a:r>
            <a:endParaRPr lang="en-US" altLang="en-US"/>
          </a:p>
          <a:p>
            <a:r>
              <a:rPr lang="en-US" altLang="en-US"/>
              <a:t>print("Shape:", df.shape)</a:t>
            </a:r>
            <a:endParaRPr lang="en-US" altLang="en-US"/>
          </a:p>
          <a:p>
            <a:r>
              <a:rPr lang="en-US" altLang="en-US"/>
              <a:t>display(df.head())</a:t>
            </a:r>
            <a:endParaRPr lang="en-US" altLang="en-US"/>
          </a:p>
          <a:p>
            <a:r>
              <a:rPr lang="en-US" altLang="en-US"/>
              <a:t>display(df.info())</a:t>
            </a:r>
            <a:endParaRPr lang="en-US" altLang="en-US"/>
          </a:p>
          <a:p>
            <a:endParaRPr lang="en-US" altLang="en-US"/>
          </a:p>
        </p:txBody>
      </p:sp>
      <p:sp>
        <p:nvSpPr>
          <p:cNvPr id="3" name="Text Box 2"/>
          <p:cNvSpPr txBox="1"/>
          <p:nvPr/>
        </p:nvSpPr>
        <p:spPr>
          <a:xfrm>
            <a:off x="565150" y="3128010"/>
            <a:ext cx="4422140" cy="301625"/>
          </a:xfrm>
          <a:prstGeom prst="rect">
            <a:avLst/>
          </a:prstGeom>
          <a:noFill/>
        </p:spPr>
        <p:txBody>
          <a:bodyPr wrap="square" rtlCol="0">
            <a:noAutofit/>
          </a:bodyPr>
          <a:p>
            <a:r>
              <a:rPr lang="en-US" altLang="en-US"/>
              <a:t># 1. Data Quality Check</a:t>
            </a:r>
            <a:endParaRPr lang="en-US" altLang="en-US"/>
          </a:p>
        </p:txBody>
      </p:sp>
      <p:sp>
        <p:nvSpPr>
          <p:cNvPr id="4" name="Text Box 3"/>
          <p:cNvSpPr txBox="1"/>
          <p:nvPr/>
        </p:nvSpPr>
        <p:spPr>
          <a:xfrm>
            <a:off x="591820" y="3687445"/>
            <a:ext cx="4291330" cy="675005"/>
          </a:xfrm>
          <a:prstGeom prst="rect">
            <a:avLst/>
          </a:prstGeom>
          <a:noFill/>
        </p:spPr>
        <p:txBody>
          <a:bodyPr wrap="square" rtlCol="0">
            <a:noAutofit/>
          </a:bodyPr>
          <a:p>
            <a:r>
              <a:rPr lang="en-US" altLang="en-US"/>
              <a:t>print("Missing values:")</a:t>
            </a:r>
            <a:endParaRPr lang="en-US" altLang="en-US"/>
          </a:p>
          <a:p>
            <a:r>
              <a:rPr lang="en-US" altLang="en-US"/>
              <a:t>display(df.isna().sum()[df.isna().sum() &gt; 0])</a:t>
            </a:r>
            <a:endParaRPr lang="en-US" altLang="en-US"/>
          </a:p>
          <a:p>
            <a:endParaRPr lang="en-US" altLang="en-US"/>
          </a:p>
          <a:p>
            <a:r>
              <a:rPr lang="en-US" altLang="en-US"/>
              <a:t>print("Duplicate rows:", df.duplicated().sum())</a:t>
            </a:r>
            <a:endParaRPr lang="en-US" altLang="en-US"/>
          </a:p>
          <a:p>
            <a:r>
              <a:rPr lang="en-US" altLang="en-US"/>
              <a:t>print("Season counts:")</a:t>
            </a:r>
            <a:endParaRPr lang="en-US" altLang="en-US"/>
          </a:p>
          <a:p>
            <a:r>
              <a:rPr lang="en-US" altLang="en-US"/>
              <a:t>display(df["Season"].value_counts())</a:t>
            </a:r>
            <a:endParaRPr lang="en-US" altLang="en-US"/>
          </a:p>
          <a:p>
            <a:endParaRPr lang="en-US" altLang="en-US"/>
          </a:p>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45110" y="203200"/>
            <a:ext cx="8898255" cy="1483995"/>
          </a:xfrm>
          <a:prstGeom prst="rect">
            <a:avLst/>
          </a:prstGeom>
          <a:noFill/>
        </p:spPr>
        <p:txBody>
          <a:bodyPr wrap="square" rtlCol="0" anchor="t">
            <a:noAutofit/>
          </a:bodyPr>
          <a:p>
            <a:r>
              <a:rPr lang="en-US" altLang="en-US"/>
              <a:t>### Cleaning</a:t>
            </a:r>
            <a:endParaRPr lang="en-US" altLang="en-US"/>
          </a:p>
          <a:p>
            <a:r>
              <a:rPr lang="en-US" altLang="en-US"/>
              <a:t>The supplied data contains missing values in `Rainfall_mm`, `Soil_Moisture_pct`, and `Yield_Tonnes_Ha`. Because these are numeric variables, missing values are replaced with their respective medians. Duplicate rows are not removed because the dataset contains no duplicates.</a:t>
            </a:r>
            <a:endParaRPr lang="en-US" altLang="en-US"/>
          </a:p>
          <a:p>
            <a:r>
              <a:rPr lang="en-US" altLang="en-US"/>
              <a:t>clean = df.copy()</a:t>
            </a:r>
            <a:endParaRPr lang="en-US" altLang="en-US"/>
          </a:p>
          <a:p>
            <a:r>
              <a:rPr lang="en-US" altLang="en-US"/>
              <a:t>for col in ["Rainfall_mm", "Soil_Moisture_pct", "Yield_Tonnes_Ha"]:</a:t>
            </a:r>
            <a:endParaRPr lang="en-US" altLang="en-US"/>
          </a:p>
          <a:p>
            <a:r>
              <a:rPr lang="en-US" altLang="en-US"/>
              <a:t>    clean[col] = clean[col].fillna(clean[col].median())</a:t>
            </a:r>
            <a:endParaRPr lang="en-US" altLang="en-US"/>
          </a:p>
          <a:p>
            <a:endParaRPr lang="en-US" altLang="en-US"/>
          </a:p>
          <a:p>
            <a:r>
              <a:rPr lang="en-US" altLang="en-US"/>
              <a:t>clean["Profit_Margin_pct"] = np.where(</a:t>
            </a:r>
            <a:endParaRPr lang="en-US" altLang="en-US"/>
          </a:p>
          <a:p>
            <a:r>
              <a:rPr lang="en-US" altLang="en-US"/>
              <a:t>    clean["Revenue_INR"] != 0,</a:t>
            </a:r>
            <a:endParaRPr lang="en-US" altLang="en-US"/>
          </a:p>
          <a:p>
            <a:r>
              <a:rPr lang="en-US" altLang="en-US"/>
              <a:t>    clean["Profit_INR"] / clean["Revenue_INR"] * 100,</a:t>
            </a:r>
            <a:endParaRPr lang="en-US" altLang="en-US"/>
          </a:p>
          <a:p>
            <a:r>
              <a:rPr lang="en-US" altLang="en-US"/>
              <a:t>    np.nan</a:t>
            </a:r>
            <a:endParaRPr lang="en-US" altLang="en-US"/>
          </a:p>
          <a:p>
            <a:r>
              <a:rPr lang="en-US" altLang="en-US"/>
              <a:t>)</a:t>
            </a:r>
            <a:endParaRPr lang="en-US" altLang="en-US"/>
          </a:p>
          <a:p>
            <a:r>
              <a:rPr lang="en-US" altLang="en-US"/>
              <a:t>clean["Cost_per_Tonne_INR"] = np.where(</a:t>
            </a:r>
            <a:endParaRPr lang="en-US" altLang="en-US"/>
          </a:p>
          <a:p>
            <a:r>
              <a:rPr lang="en-US" altLang="en-US"/>
              <a:t>    clean["Production_Tonnes"] != 0,</a:t>
            </a:r>
            <a:endParaRPr lang="en-US" altLang="en-US"/>
          </a:p>
          <a:p>
            <a:r>
              <a:rPr lang="en-US" altLang="en-US"/>
              <a:t>    clean["Total_Cost_INR"] / clean["Production_Tonnes"],</a:t>
            </a:r>
            <a:endParaRPr lang="en-US" altLang="en-US"/>
          </a:p>
          <a:p>
            <a:r>
              <a:rPr lang="en-US" altLang="en-US"/>
              <a:t>    np.nan</a:t>
            </a:r>
            <a:endParaRPr lang="en-US" altLang="en-US"/>
          </a:p>
          <a:p>
            <a:r>
              <a:rPr lang="en-US" altLang="en-US"/>
              <a:t>)</a:t>
            </a:r>
            <a:endParaRPr lang="en-US" altLang="en-US"/>
          </a:p>
          <a:p>
            <a:endParaRPr lang="en-US" altLang="en-US"/>
          </a:p>
          <a:p>
            <a:r>
              <a:rPr lang="en-US" altLang="en-US"/>
              <a:t>print("Remaining missing values:", int(clean.isna().sum().sum()))</a:t>
            </a:r>
            <a:endParaRPr lang="en-US" altLang="en-US"/>
          </a:p>
          <a:p>
            <a:r>
              <a:rPr lang="en-US" altLang="en-US"/>
              <a:t>display(clean.head())</a:t>
            </a:r>
            <a:endParaRPr lang="en-US" altLang="en-US"/>
          </a:p>
          <a:p>
            <a:endParaRPr lang="en-US"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635" y="147320"/>
            <a:ext cx="10031730" cy="5651500"/>
          </a:xfrm>
          <a:prstGeom prst="rect">
            <a:avLst/>
          </a:prstGeom>
          <a:noFill/>
        </p:spPr>
        <p:txBody>
          <a:bodyPr wrap="square" rtlCol="0" anchor="t">
            <a:noAutofit/>
          </a:bodyPr>
          <a:p>
            <a:r>
              <a:rPr lang="en-US" altLang="en-US"/>
              <a:t>## 2. Seasonal Performance Analysis </a:t>
            </a:r>
            <a:endParaRPr lang="en-US" altLang="en-US"/>
          </a:p>
          <a:p>
            <a:r>
              <a:rPr lang="en-US" altLang="en-US"/>
              <a:t>season_summary = clean.groupby("Season").agg(</a:t>
            </a:r>
            <a:endParaRPr lang="en-US" altLang="en-US"/>
          </a:p>
          <a:p>
            <a:r>
              <a:rPr lang="en-US" altLang="en-US"/>
              <a:t>    Farms=("Farm_ID","count"),</a:t>
            </a:r>
            <a:endParaRPr lang="en-US" altLang="en-US"/>
          </a:p>
          <a:p>
            <a:r>
              <a:rPr lang="en-US" altLang="en-US"/>
              <a:t>    Avg_Yield_Tonnes_Ha=("Yield_Tonnes_Ha","mean"),</a:t>
            </a:r>
            <a:endParaRPr lang="en-US" altLang="en-US"/>
          </a:p>
          <a:p>
            <a:r>
              <a:rPr lang="en-US" altLang="en-US"/>
              <a:t>    Total_Production_Tonnes=("Production_Tonnes","sum"),</a:t>
            </a:r>
            <a:endParaRPr lang="en-US" altLang="en-US"/>
          </a:p>
          <a:p>
            <a:r>
              <a:rPr lang="en-US" altLang="en-US"/>
              <a:t>    Avg_Revenue_INR=("Revenue_INR","mean"),</a:t>
            </a:r>
            <a:endParaRPr lang="en-US" altLang="en-US"/>
          </a:p>
          <a:p>
            <a:r>
              <a:rPr lang="en-US" altLang="en-US"/>
              <a:t>    Avg_Cost_INR=("Total_Cost_INR","mean"),</a:t>
            </a:r>
            <a:endParaRPr lang="en-US" altLang="en-US"/>
          </a:p>
          <a:p>
            <a:r>
              <a:rPr lang="en-US" altLang="en-US"/>
              <a:t>    Avg_Profit_INR=("Profit_INR","mean"),</a:t>
            </a:r>
            <a:endParaRPr lang="en-US" altLang="en-US"/>
          </a:p>
          <a:p>
            <a:r>
              <a:rPr lang="en-US" altLang="en-US"/>
              <a:t>    Avg_Water_Used_m3=("Water_Used_m3","mean"),</a:t>
            </a:r>
            <a:endParaRPr lang="en-US" altLang="en-US"/>
          </a:p>
          <a:p>
            <a:r>
              <a:rPr lang="en-US" altLang="en-US"/>
              <a:t>    Avg_Disease_Risk_pct=("Disease_Pest_Risk_pct","mean")</a:t>
            </a:r>
            <a:endParaRPr lang="en-US" altLang="en-US"/>
          </a:p>
          <a:p>
            <a:r>
              <a:rPr lang="en-US" altLang="en-US"/>
              <a:t>).round(2)</a:t>
            </a:r>
            <a:endParaRPr lang="en-US" altLang="en-US"/>
          </a:p>
          <a:p>
            <a:endParaRPr lang="en-US" altLang="en-US"/>
          </a:p>
          <a:p>
            <a:r>
              <a:rPr lang="en-US" altLang="en-US"/>
              <a:t>display(season_summary)</a:t>
            </a:r>
            <a:endParaRPr lang="en-US" altLang="en-US"/>
          </a:p>
          <a:p>
            <a:r>
              <a:rPr lang="en-US" altLang="en-US"/>
              <a:t>plt.figure(figsize=(8,5))</a:t>
            </a:r>
            <a:endParaRPr lang="en-US" altLang="en-US"/>
          </a:p>
          <a:p>
            <a:r>
              <a:rPr lang="en-US" altLang="en-US"/>
              <a:t>plt.bar(season_summary.index, season_summary["Avg_Yield_Tonnes_Ha"])</a:t>
            </a:r>
            <a:endParaRPr lang="en-US" altLang="en-US"/>
          </a:p>
          <a:p>
            <a:r>
              <a:rPr lang="en-US" altLang="en-US"/>
              <a:t>plt.title("Average Yield by Season")</a:t>
            </a:r>
            <a:endParaRPr lang="en-US" altLang="en-US"/>
          </a:p>
          <a:p>
            <a:r>
              <a:rPr lang="en-US" altLang="en-US"/>
              <a:t>plt.xlabel("Season")</a:t>
            </a:r>
            <a:endParaRPr lang="en-US" altLang="en-US"/>
          </a:p>
          <a:p>
            <a:r>
              <a:rPr lang="en-US" altLang="en-US"/>
              <a:t>plt.ylabel("Yield (Tonnes/Ha)")</a:t>
            </a:r>
            <a:endParaRPr lang="en-US" altLang="en-US"/>
          </a:p>
          <a:p>
            <a:r>
              <a:rPr lang="en-US" altLang="en-US"/>
              <a:t>plt.tight_layout()</a:t>
            </a:r>
            <a:endParaRPr lang="en-US" altLang="en-US"/>
          </a:p>
          <a:p>
            <a:r>
              <a:rPr lang="en-US" altLang="en-US"/>
              <a:t>plt.show()</a:t>
            </a:r>
            <a:endParaRPr lang="en-US" altLang="en-US"/>
          </a:p>
          <a:p>
            <a:endParaRPr lang="en-US" altLang="en-US"/>
          </a:p>
        </p:txBody>
      </p:sp>
      <p:sp>
        <p:nvSpPr>
          <p:cNvPr id="3" name="Text Box 2"/>
          <p:cNvSpPr txBox="1"/>
          <p:nvPr/>
        </p:nvSpPr>
        <p:spPr>
          <a:xfrm>
            <a:off x="3555683" y="2225992"/>
            <a:ext cx="5080000" cy="212725"/>
          </a:xfrm>
          <a:prstGeom prst="rect">
            <a:avLst/>
          </a:prstGeom>
        </p:spPr>
        <p:txBody>
          <a:bodyPr>
            <a:spAutoFit/>
          </a:bodyPr>
          <a:p>
            <a:pPr>
              <a:lnSpc>
                <a:spcPts val="950"/>
              </a:lnSpc>
            </a:pPr>
            <a:r>
              <a:rPr sz="1600" b="0">
                <a:solidFill>
                  <a:srgbClr val="FFFFFF"/>
                </a:solidFill>
                <a:latin typeface="Consolas" panose="020B0609020204030204"/>
                <a:ea typeface="Consolas" panose="020B0609020204030204"/>
              </a:rPr>
              <a:t>season_summary </a:t>
            </a:r>
            <a:r>
              <a:rPr sz="1600" b="0">
                <a:solidFill>
                  <a:srgbClr val="D4D4D4"/>
                </a:solidFill>
                <a:latin typeface="Consolas" panose="020B0609020204030204"/>
                <a:ea typeface="Consolas" panose="020B0609020204030204"/>
              </a:rPr>
              <a:t>=</a:t>
            </a:r>
            <a:r>
              <a:rPr sz="1600" b="0">
                <a:solidFill>
                  <a:srgbClr val="FFFFFF"/>
                </a:solidFill>
                <a:latin typeface="Consolas" panose="020B0609020204030204"/>
                <a:ea typeface="Consolas" panose="020B0609020204030204"/>
              </a:rPr>
              <a:t> clean.grou</a:t>
            </a:r>
            <a:endParaRPr sz="1600" b="0">
              <a:solidFill>
                <a:srgbClr val="FFFFFF"/>
              </a:solidFill>
              <a:latin typeface="Consolas" panose="020B0609020204030204"/>
              <a:ea typeface="Consolas" panose="020B0609020204030204"/>
            </a:endParaRPr>
          </a:p>
        </p:txBody>
      </p:sp>
      <p:sp>
        <p:nvSpPr>
          <p:cNvPr id="5" name="Text Box 4"/>
          <p:cNvSpPr txBox="1"/>
          <p:nvPr/>
        </p:nvSpPr>
        <p:spPr>
          <a:xfrm>
            <a:off x="270510" y="704215"/>
            <a:ext cx="4064000" cy="368300"/>
          </a:xfrm>
          <a:prstGeom prst="rect">
            <a:avLst/>
          </a:prstGeom>
          <a:noFill/>
        </p:spPr>
        <p:txBody>
          <a:bodyPr wrap="square" rtlCol="0">
            <a:spAutoFit/>
          </a:bodyPr>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flipV="1">
            <a:off x="286385" y="852170"/>
            <a:ext cx="3531235" cy="3286760"/>
          </a:xfrm>
          <a:prstGeom prst="rect">
            <a:avLst/>
          </a:prstGeom>
        </p:spPr>
        <p:txBody>
          <a:bodyPr>
            <a:noAutofit/>
          </a:bodyPr>
          <a:p>
            <a:pPr>
              <a:lnSpc>
                <a:spcPts val="950"/>
              </a:lnSpc>
            </a:pPr>
            <a:r>
              <a:rPr lang="en-US" altLang="en-US" sz="1600" b="0">
                <a:solidFill>
                  <a:srgbClr val="FFFFFF"/>
                </a:solidFill>
                <a:latin typeface="Consolas" panose="020B0609020204030204"/>
                <a:ea typeface="Consolas" panose="020B0609020204030204"/>
              </a:rPr>
              <a:t>plt.bar(season_summary.index, season_summary["Avg_Profit_INR"])</a:t>
            </a:r>
            <a:endParaRPr lang="en-US" altLang="en-US" sz="1600" b="0">
              <a:solidFill>
                <a:srgbClr val="FFFFFF"/>
              </a:solidFill>
              <a:latin typeface="Consolas" panose="020B0609020204030204"/>
              <a:ea typeface="Consolas" panose="020B0609020204030204"/>
            </a:endParaRPr>
          </a:p>
          <a:p>
            <a:pPr>
              <a:lnSpc>
                <a:spcPts val="950"/>
              </a:lnSpc>
            </a:pPr>
            <a:r>
              <a:rPr lang="en-US" altLang="en-US" sz="1600" b="0">
                <a:solidFill>
                  <a:srgbClr val="FFFFFF"/>
                </a:solidFill>
                <a:latin typeface="Consolas" panose="020B0609020204030204"/>
                <a:ea typeface="Consolas" panose="020B0609020204030204"/>
              </a:rPr>
              <a:t>plt.title("Average Profit by Season")</a:t>
            </a:r>
            <a:r>
              <a:rPr lang="en-US" altLang="en-US" sz="1600">
                <a:solidFill>
                  <a:srgbClr val="FFFFFF"/>
                </a:solidFill>
                <a:latin typeface="Consolas" panose="020B0609020204030204"/>
                <a:ea typeface="Consolas" panose="020B0609020204030204"/>
                <a:sym typeface="+mn-ea"/>
              </a:rPr>
              <a:t>plt.figure(figsize=(8,5))</a:t>
            </a:r>
            <a:endParaRPr lang="en-US" altLang="en-US" sz="1600" b="0">
              <a:solidFill>
                <a:srgbClr val="FFFFFF"/>
              </a:solidFill>
              <a:latin typeface="Consolas" panose="020B0609020204030204"/>
              <a:ea typeface="Consolas" panose="020B0609020204030204"/>
            </a:endParaRPr>
          </a:p>
          <a:p>
            <a:pPr>
              <a:lnSpc>
                <a:spcPts val="950"/>
              </a:lnSpc>
            </a:pPr>
            <a:endParaRPr lang="en-US" altLang="en-US" sz="1600" b="0">
              <a:solidFill>
                <a:srgbClr val="FFFFFF"/>
              </a:solidFill>
              <a:latin typeface="Consolas" panose="020B0609020204030204"/>
              <a:ea typeface="Consolas" panose="020B0609020204030204"/>
            </a:endParaRPr>
          </a:p>
          <a:p>
            <a:pPr>
              <a:lnSpc>
                <a:spcPts val="950"/>
              </a:lnSpc>
            </a:pPr>
            <a:r>
              <a:rPr lang="en-US" altLang="en-US" sz="1600" b="0">
                <a:solidFill>
                  <a:srgbClr val="FFFFFF"/>
                </a:solidFill>
                <a:latin typeface="Consolas" panose="020B0609020204030204"/>
                <a:ea typeface="Consolas" panose="020B0609020204030204"/>
              </a:rPr>
              <a:t>plt.xlabel("Season")</a:t>
            </a:r>
            <a:endParaRPr lang="en-US" altLang="en-US" sz="1600" b="0">
              <a:solidFill>
                <a:srgbClr val="FFFFFF"/>
              </a:solidFill>
              <a:latin typeface="Consolas" panose="020B0609020204030204"/>
              <a:ea typeface="Consolas" panose="020B0609020204030204"/>
            </a:endParaRPr>
          </a:p>
          <a:p>
            <a:pPr>
              <a:lnSpc>
                <a:spcPts val="950"/>
              </a:lnSpc>
            </a:pPr>
            <a:r>
              <a:rPr lang="en-US" altLang="en-US" sz="1600" b="0">
                <a:solidFill>
                  <a:srgbClr val="FFFFFF"/>
                </a:solidFill>
                <a:latin typeface="Consolas" panose="020B0609020204030204"/>
                <a:ea typeface="Consolas" panose="020B0609020204030204"/>
              </a:rPr>
              <a:t>plt.show()</a:t>
            </a:r>
            <a:endParaRPr lang="en-US" altLang="en-US" sz="1600" b="0">
              <a:solidFill>
                <a:srgbClr val="FFFFFF"/>
              </a:solidFill>
              <a:latin typeface="Consolas" panose="020B0609020204030204"/>
              <a:ea typeface="Consolas" panose="020B0609020204030204"/>
            </a:endParaRPr>
          </a:p>
          <a:p>
            <a:pPr>
              <a:lnSpc>
                <a:spcPts val="950"/>
              </a:lnSpc>
            </a:pPr>
            <a:r>
              <a:rPr lang="en-US" altLang="en-US" sz="1600" b="0">
                <a:solidFill>
                  <a:srgbClr val="FFFFFF"/>
                </a:solidFill>
                <a:latin typeface="Consolas" panose="020B0609020204030204"/>
                <a:ea typeface="Consolas" panose="020B0609020204030204"/>
              </a:rPr>
              <a:t>)</a:t>
            </a:r>
            <a:endParaRPr lang="en-US" altLang="en-US" sz="1600" b="0">
              <a:solidFill>
                <a:srgbClr val="FFFFFF"/>
              </a:solidFill>
              <a:latin typeface="Consolas" panose="020B0609020204030204"/>
              <a:ea typeface="Consolas" panose="020B0609020204030204"/>
            </a:endParaRPr>
          </a:p>
          <a:p>
            <a:pPr>
              <a:lnSpc>
                <a:spcPts val="950"/>
              </a:lnSpc>
            </a:pPr>
            <a:r>
              <a:rPr lang="en-US" altLang="en-US" sz="1600" b="0">
                <a:solidFill>
                  <a:srgbClr val="FFFFFF"/>
                </a:solidFill>
                <a:latin typeface="Consolas" panose="020B0609020204030204"/>
                <a:ea typeface="Consolas" panose="020B0609020204030204"/>
              </a:rPr>
              <a:t>plt.xlabel("Season")</a:t>
            </a:r>
            <a:endParaRPr lang="en-US" altLang="en-US" sz="1600" b="0">
              <a:solidFill>
                <a:srgbClr val="FFFFFF"/>
              </a:solidFill>
              <a:latin typeface="Consolas" panose="020B0609020204030204"/>
              <a:ea typeface="Consolas" panose="020B0609020204030204"/>
            </a:endParaRPr>
          </a:p>
          <a:p>
            <a:pPr>
              <a:lnSpc>
                <a:spcPts val="950"/>
              </a:lnSpc>
            </a:pPr>
            <a:r>
              <a:rPr lang="en-US" altLang="en-US" sz="1600" b="0">
                <a:solidFill>
                  <a:srgbClr val="FFFFFF"/>
                </a:solidFill>
                <a:latin typeface="Consolas" panose="020B0609020204030204"/>
                <a:ea typeface="Consolas" panose="020B0609020204030204"/>
              </a:rPr>
              <a:t>plt.ylabel("Average Profit (INR)")</a:t>
            </a:r>
            <a:endParaRPr lang="en-US" altLang="en-US" sz="1600" b="0">
              <a:solidFill>
                <a:srgbClr val="FFFFFF"/>
              </a:solidFill>
              <a:latin typeface="Consolas" panose="020B0609020204030204"/>
              <a:ea typeface="Consolas" panose="020B0609020204030204"/>
            </a:endParaRPr>
          </a:p>
          <a:p>
            <a:pPr>
              <a:lnSpc>
                <a:spcPts val="950"/>
              </a:lnSpc>
            </a:pPr>
            <a:r>
              <a:rPr lang="en-US" altLang="en-US" sz="1600" b="0">
                <a:solidFill>
                  <a:srgbClr val="FFFFFF"/>
                </a:solidFill>
                <a:latin typeface="Consolas" panose="020B0609020204030204"/>
                <a:ea typeface="Consolas" panose="020B0609020204030204"/>
              </a:rPr>
              <a:t>plt.tight_layout()</a:t>
            </a:r>
            <a:endParaRPr lang="en-US" altLang="en-US" sz="1600" b="0">
              <a:solidFill>
                <a:srgbClr val="FFFFFF"/>
              </a:solidFill>
              <a:latin typeface="Consolas" panose="020B0609020204030204"/>
              <a:ea typeface="Consolas" panose="020B0609020204030204"/>
            </a:endParaRPr>
          </a:p>
          <a:p>
            <a:pPr>
              <a:lnSpc>
                <a:spcPts val="950"/>
              </a:lnSpc>
            </a:pPr>
            <a:r>
              <a:rPr lang="en-US" altLang="en-US" sz="1600" b="0">
                <a:solidFill>
                  <a:srgbClr val="FFFFFF"/>
                </a:solidFill>
                <a:latin typeface="Consolas" panose="020B0609020204030204"/>
                <a:ea typeface="Consolas" panose="020B0609020204030204"/>
              </a:rPr>
              <a:t>plt.show()</a:t>
            </a:r>
            <a:endParaRPr lang="en-US" altLang="en-US" sz="1600" b="0">
              <a:solidFill>
                <a:srgbClr val="FFFFFF"/>
              </a:solidFill>
              <a:latin typeface="Consolas" panose="020B0609020204030204"/>
              <a:ea typeface="Consolas" panose="020B0609020204030204"/>
            </a:endParaRPr>
          </a:p>
          <a:p>
            <a:pPr>
              <a:lnSpc>
                <a:spcPts val="950"/>
              </a:lnSpc>
            </a:pPr>
            <a:r>
              <a:rPr sz="1600" b="0">
                <a:solidFill>
                  <a:srgbClr val="FFFFFF"/>
                </a:solidFill>
                <a:latin typeface="Consolas" panose="020B0609020204030204"/>
                <a:ea typeface="Consolas" panose="020B0609020204030204"/>
              </a:rPr>
              <a:t>plt.figure(plt.show()</a:t>
            </a:r>
            <a:endParaRPr sz="1600" b="0">
              <a:solidFill>
                <a:srgbClr val="FFFFFF"/>
              </a:solidFill>
              <a:latin typeface="Consolas" panose="020B0609020204030204"/>
              <a:ea typeface="Consolas" panose="020B0609020204030204"/>
            </a:endParaRPr>
          </a:p>
        </p:txBody>
      </p:sp>
      <p:sp>
        <p:nvSpPr>
          <p:cNvPr id="4" name="Text Box 3"/>
          <p:cNvSpPr txBox="1"/>
          <p:nvPr/>
        </p:nvSpPr>
        <p:spPr>
          <a:xfrm>
            <a:off x="260350" y="164465"/>
            <a:ext cx="11640185" cy="5876925"/>
          </a:xfrm>
          <a:prstGeom prst="rect">
            <a:avLst/>
          </a:prstGeom>
          <a:noFill/>
        </p:spPr>
        <p:txBody>
          <a:bodyPr wrap="square" rtlCol="0">
            <a:noAutofit/>
          </a:bodyPr>
          <a:p>
            <a:r>
              <a:rPr lang="en-US" altLang="en-US" sz="1600"/>
              <a:t>plt.figure(figsize=(8,5))</a:t>
            </a:r>
            <a:endParaRPr lang="en-US" altLang="en-US" sz="1600"/>
          </a:p>
          <a:p>
            <a:r>
              <a:rPr lang="en-US" altLang="en-US" sz="1600"/>
              <a:t>plt.bar(season_summary.index, season_summary["Avg_Profit_INR"])</a:t>
            </a:r>
            <a:endParaRPr lang="en-US" altLang="en-US" sz="1600"/>
          </a:p>
          <a:p>
            <a:r>
              <a:rPr lang="en-US" altLang="en-US" sz="1600"/>
              <a:t>plt.title("Average Profit by Season")</a:t>
            </a:r>
            <a:endParaRPr lang="en-US" altLang="en-US" sz="1600"/>
          </a:p>
          <a:p>
            <a:r>
              <a:rPr lang="en-US" altLang="en-US" sz="1600"/>
              <a:t>plt.xlabel("Season")</a:t>
            </a:r>
            <a:endParaRPr lang="en-US" altLang="en-US" sz="1600"/>
          </a:p>
          <a:p>
            <a:r>
              <a:rPr lang="en-US" altLang="en-US" sz="1600"/>
              <a:t>plt.ylabel("Average Profit (INR)")</a:t>
            </a:r>
            <a:endParaRPr lang="en-US" altLang="en-US" sz="1600"/>
          </a:p>
          <a:p>
            <a:r>
              <a:rPr lang="en-US" altLang="en-US" sz="1600"/>
              <a:t>plt.tight_layout()</a:t>
            </a:r>
            <a:endParaRPr lang="en-US" altLang="en-US" sz="1600"/>
          </a:p>
          <a:p>
            <a:r>
              <a:rPr lang="en-US" altLang="en-US" sz="1600"/>
              <a:t>plt.show()</a:t>
            </a:r>
            <a:endParaRPr lang="en-US" altLang="en-US" sz="1600"/>
          </a:p>
          <a:p>
            <a:endParaRPr lang="en-US" altLang="en-US" sz="1600"/>
          </a:p>
          <a:p>
            <a:r>
              <a:rPr lang="en-US" altLang="en-US" sz="1600"/>
              <a:t>## 3. Crop Analysis</a:t>
            </a:r>
            <a:endParaRPr lang="en-US" altLang="en-US" sz="1600"/>
          </a:p>
          <a:p>
            <a:r>
              <a:rPr lang="en-US" altLang="en-US" sz="1600"/>
              <a:t>crop_summary = clean.groupby("Crop").agg(</a:t>
            </a:r>
            <a:endParaRPr lang="en-US" altLang="en-US" sz="1600"/>
          </a:p>
          <a:p>
            <a:r>
              <a:rPr lang="en-US" altLang="en-US" sz="1600"/>
              <a:t>    Farms=("Farm_ID","count"),</a:t>
            </a:r>
            <a:endParaRPr lang="en-US" altLang="en-US" sz="1600"/>
          </a:p>
          <a:p>
            <a:r>
              <a:rPr lang="en-US" altLang="en-US" sz="1600"/>
              <a:t>    Avg_Yield_Tonnes_Ha=("Yield_Tonnes_Ha","mean"),</a:t>
            </a:r>
            <a:endParaRPr lang="en-US" altLang="en-US" sz="1600"/>
          </a:p>
          <a:p>
            <a:r>
              <a:rPr lang="en-US" altLang="en-US" sz="1600"/>
              <a:t>    Avg_Profit_INR=("Profit_INR","mean"),</a:t>
            </a:r>
            <a:endParaRPr lang="en-US" altLang="en-US" sz="1600"/>
          </a:p>
          <a:p>
            <a:r>
              <a:rPr lang="en-US" altLang="en-US" sz="1600"/>
              <a:t>    Avg_Disease_Risk_pct=("Disease_Pest_Risk_pct","mean")</a:t>
            </a:r>
            <a:endParaRPr lang="en-US" altLang="en-US" sz="1600"/>
          </a:p>
          <a:p>
            <a:r>
              <a:rPr lang="en-US" altLang="en-US" sz="1600"/>
              <a:t>).sort_values("Avg_Yield_Tonnes_Ha", ascending=False).round(2)</a:t>
            </a:r>
            <a:endParaRPr lang="en-US" altLang="en-US" sz="1600"/>
          </a:p>
          <a:p>
            <a:endParaRPr lang="en-US" altLang="en-US" sz="1600"/>
          </a:p>
          <a:p>
            <a:r>
              <a:rPr lang="en-US" altLang="en-US" sz="1600"/>
              <a:t>display(crop_summary)</a:t>
            </a:r>
            <a:endParaRPr lang="en-US" altLang="en-US" sz="1600"/>
          </a:p>
          <a:p>
            <a:r>
              <a:rPr lang="en-US" altLang="en-US" sz="1600"/>
              <a:t>plt.figure(figsize=(9,5))</a:t>
            </a:r>
            <a:endParaRPr lang="en-US" altLang="en-US" sz="1600"/>
          </a:p>
          <a:p>
            <a:r>
              <a:rPr lang="en-US" altLang="en-US" sz="1600"/>
              <a:t>plt.bar(crop_summary.index, crop_summary["Avg_Yield_Tonnes_Ha"])</a:t>
            </a:r>
            <a:endParaRPr lang="en-US" altLang="en-US" sz="1600"/>
          </a:p>
          <a:p>
            <a:r>
              <a:rPr lang="en-US" altLang="en-US" sz="1600"/>
              <a:t>plt.title("Average Yield by Crop")</a:t>
            </a:r>
            <a:endParaRPr lang="en-US" altLang="en-US" sz="1600"/>
          </a:p>
          <a:p>
            <a:r>
              <a:rPr lang="en-US" altLang="en-US" sz="1600"/>
              <a:t>plt.xlabel("Crop")</a:t>
            </a:r>
            <a:endParaRPr lang="en-US" altLang="en-US" sz="1600"/>
          </a:p>
          <a:p>
            <a:r>
              <a:rPr lang="en-US" altLang="en-US" sz="1600"/>
              <a:t>plt.ylabel("Yield (Tonnes/Ha)")</a:t>
            </a:r>
            <a:endParaRPr lang="en-US" altLang="en-US" sz="1600"/>
          </a:p>
          <a:p>
            <a:r>
              <a:rPr lang="en-US" altLang="en-US" sz="1600"/>
              <a:t>plt.xticks(rotation=35, ha="right")</a:t>
            </a:r>
            <a:endParaRPr lang="en-US" altLang="en-US" sz="1600"/>
          </a:p>
          <a:p>
            <a:r>
              <a:rPr lang="en-US" altLang="en-US" sz="1600"/>
              <a:t>plt.tight_layout()</a:t>
            </a:r>
            <a:endParaRPr lang="en-US" altLang="en-US" sz="1600"/>
          </a:p>
          <a:p>
            <a:r>
              <a:rPr lang="en-US" altLang="en-US" sz="1600"/>
              <a:t>plt.show()</a:t>
            </a:r>
            <a:endParaRPr lang="en-US" altLang="en-US" sz="1600"/>
          </a:p>
          <a:p>
            <a:endParaRPr lang="en-US" altLang="en-US" sz="16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86080" y="172720"/>
            <a:ext cx="11582400" cy="6478270"/>
          </a:xfrm>
          <a:prstGeom prst="rect">
            <a:avLst/>
          </a:prstGeom>
          <a:noFill/>
        </p:spPr>
        <p:txBody>
          <a:bodyPr wrap="square" rtlCol="0">
            <a:noAutofit/>
          </a:bodyPr>
          <a:p>
            <a:r>
              <a:rPr lang="en-US" altLang="en-US" sz="1600"/>
              <a:t>## 4. Irrigation Analysis</a:t>
            </a:r>
            <a:endParaRPr lang="en-US" altLang="en-US" sz="1600"/>
          </a:p>
          <a:p>
            <a:r>
              <a:rPr lang="en-US" altLang="en-US" sz="1600"/>
              <a:t>irrigation_summary = clean.groupby("Irrigation_Method").agg(</a:t>
            </a:r>
            <a:endParaRPr lang="en-US" altLang="en-US" sz="1600"/>
          </a:p>
          <a:p>
            <a:r>
              <a:rPr lang="en-US" altLang="en-US" sz="1600"/>
              <a:t>    Avg_Yield_Tonnes_Ha=("Yield_Tonnes_Ha","mean"),</a:t>
            </a:r>
            <a:endParaRPr lang="en-US" altLang="en-US" sz="1600"/>
          </a:p>
          <a:p>
            <a:r>
              <a:rPr lang="en-US" altLang="en-US" sz="1600"/>
              <a:t>    Avg_Profit_INR=("Profit_INR","mean"),</a:t>
            </a:r>
            <a:endParaRPr lang="en-US" altLang="en-US" sz="1600"/>
          </a:p>
          <a:p>
            <a:r>
              <a:rPr lang="en-US" altLang="en-US" sz="1600"/>
              <a:t>    Avg_Water_Used_m3=("Water_Used_m3","mean")</a:t>
            </a:r>
            <a:endParaRPr lang="en-US" altLang="en-US" sz="1600"/>
          </a:p>
          <a:p>
            <a:r>
              <a:rPr lang="en-US" altLang="en-US" sz="1600"/>
              <a:t>).sort_values("Avg_Yield_Tonnes_Ha", ascending=False).round(2)</a:t>
            </a:r>
            <a:endParaRPr lang="en-US" altLang="en-US" sz="1600"/>
          </a:p>
          <a:p>
            <a:endParaRPr lang="en-US" altLang="en-US" sz="1600"/>
          </a:p>
          <a:p>
            <a:r>
              <a:rPr lang="en-US" altLang="en-US" sz="1600"/>
              <a:t>display(irrigation_summary)</a:t>
            </a:r>
            <a:endParaRPr lang="en-US" altLang="en-US" sz="1600"/>
          </a:p>
          <a:p>
            <a:r>
              <a:rPr lang="en-US" altLang="en-US" sz="1600"/>
              <a:t>plt.figure(figsize=(8,5))</a:t>
            </a:r>
            <a:endParaRPr lang="en-US" altLang="en-US" sz="1600"/>
          </a:p>
          <a:p>
            <a:r>
              <a:rPr lang="en-US" altLang="en-US" sz="1600"/>
              <a:t>plt.bar(irrigation_summary.index, irrigation_summary["Avg_Yield_Tonnes_Ha"])</a:t>
            </a:r>
            <a:endParaRPr lang="en-US" altLang="en-US" sz="1600"/>
          </a:p>
          <a:p>
            <a:r>
              <a:rPr lang="en-US" altLang="en-US" sz="1600"/>
              <a:t>plt.title("Average Yield by Irrigation Method")</a:t>
            </a:r>
            <a:endParaRPr lang="en-US" altLang="en-US" sz="1600"/>
          </a:p>
          <a:p>
            <a:r>
              <a:rPr lang="en-US" altLang="en-US" sz="1600"/>
              <a:t>plt.xlabel("Irrigation Method")</a:t>
            </a:r>
            <a:endParaRPr lang="en-US" altLang="en-US" sz="1600"/>
          </a:p>
          <a:p>
            <a:r>
              <a:rPr lang="en-US" altLang="en-US" sz="1600"/>
              <a:t>plt.ylabel("Yield (Tonnes/Ha)")</a:t>
            </a:r>
            <a:endParaRPr lang="en-US" altLang="en-US" sz="1600"/>
          </a:p>
          <a:p>
            <a:r>
              <a:rPr lang="en-US" altLang="en-US" sz="1600"/>
              <a:t>plt.xticks(rotation=20)</a:t>
            </a:r>
            <a:endParaRPr lang="en-US" altLang="en-US" sz="1600"/>
          </a:p>
          <a:p>
            <a:r>
              <a:rPr lang="en-US" altLang="en-US" sz="1600"/>
              <a:t>plt.tight_layout()</a:t>
            </a:r>
            <a:endParaRPr lang="en-US" altLang="en-US" sz="1600"/>
          </a:p>
          <a:p>
            <a:r>
              <a:rPr lang="en-US" altLang="en-US" sz="1600"/>
              <a:t>plt.show()</a:t>
            </a:r>
            <a:endParaRPr lang="en-US" altLang="en-US" sz="1600"/>
          </a:p>
          <a:p>
            <a:r>
              <a:rPr lang="en-US" altLang="en-US" sz="1600"/>
              <a:t>## 5. Environmental Relationship</a:t>
            </a:r>
            <a:endParaRPr lang="en-US" altLang="en-US" sz="1600"/>
          </a:p>
          <a:p>
            <a:r>
              <a:rPr lang="en-US" altLang="en-US" sz="1600"/>
              <a:t>corr_cols = [</a:t>
            </a:r>
            <a:endParaRPr lang="en-US" altLang="en-US" sz="1600"/>
          </a:p>
          <a:p>
            <a:r>
              <a:rPr lang="en-US" altLang="en-US" sz="1600"/>
              <a:t>    "Rainfall_mm","Avg_Temperature_C","Humidity_pct","Sunlight_Hours_Day",</a:t>
            </a:r>
            <a:endParaRPr lang="en-US" altLang="en-US" sz="1600"/>
          </a:p>
          <a:p>
            <a:r>
              <a:rPr lang="en-US" altLang="en-US" sz="1600"/>
              <a:t>    "Soil_Moisture_pct","Nitrogen_kg_ha","Phosphorus_kg_ha","Potassium_kg_ha",</a:t>
            </a:r>
            <a:endParaRPr lang="en-US" altLang="en-US" sz="1600"/>
          </a:p>
          <a:p>
            <a:r>
              <a:rPr lang="en-US" altLang="en-US" sz="1600"/>
              <a:t>    "Fertilizer_kg_ha","Seed_Quality_Score","Yield_Tonnes_Ha",</a:t>
            </a:r>
            <a:endParaRPr lang="en-US" altLang="en-US" sz="1600"/>
          </a:p>
          <a:p>
            <a:r>
              <a:rPr lang="en-US" altLang="en-US" sz="1600"/>
              <a:t>    "Water_Used_m3","Disease_Pest_Risk_pct","Profit_INR"</a:t>
            </a:r>
            <a:endParaRPr lang="en-US" altLang="en-US" sz="1600"/>
          </a:p>
          <a:p>
            <a:r>
              <a:rPr lang="en-US" altLang="en-US" sz="1600"/>
              <a:t>]</a:t>
            </a:r>
            <a:endParaRPr lang="en-US" altLang="en-US" sz="1600"/>
          </a:p>
          <a:p>
            <a:r>
              <a:rPr lang="en-US" altLang="en-US" sz="1600"/>
              <a:t>corr = clean[corr_cols].corr(numeric_only=True)["Yield_Tonnes_Ha"].sort_values(ascending=False)</a:t>
            </a:r>
            <a:endParaRPr lang="en-US" altLang="en-US" sz="1600"/>
          </a:p>
          <a:p>
            <a:r>
              <a:rPr lang="en-US" altLang="en-US" sz="1600"/>
              <a:t>display(corr)</a:t>
            </a:r>
            <a:endParaRPr lang="en-US" altLang="en-US" sz="1600"/>
          </a:p>
          <a:p>
            <a:endParaRPr lang="en-US" altLang="en-US" sz="1600"/>
          </a:p>
          <a:p>
            <a:endParaRPr lang="en-US" altLang="en-US" sz="1600"/>
          </a:p>
          <a:p>
            <a:endParaRPr lang="en-US" altLang="en-US" sz="16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25425" y="175895"/>
            <a:ext cx="11650980" cy="6525260"/>
          </a:xfrm>
          <a:prstGeom prst="rect">
            <a:avLst/>
          </a:prstGeom>
          <a:noFill/>
        </p:spPr>
        <p:txBody>
          <a:bodyPr wrap="square" rtlCol="0">
            <a:noAutofit/>
          </a:bodyPr>
          <a:p>
            <a:r>
              <a:rPr lang="en-US" altLang="en-US" sz="1400"/>
              <a:t>plt.figure(figsize=(8,5))</a:t>
            </a:r>
            <a:endParaRPr lang="en-US" altLang="en-US" sz="1400"/>
          </a:p>
          <a:p>
            <a:r>
              <a:rPr lang="en-US" altLang="en-US" sz="1400"/>
              <a:t>plt.scatter(clean["Rainfall_mm"], clean["Yield_Tonnes_Ha"], alpha=0.35, s=12)</a:t>
            </a:r>
            <a:endParaRPr lang="en-US" altLang="en-US" sz="1400"/>
          </a:p>
          <a:p>
            <a:r>
              <a:rPr lang="en-US" altLang="en-US" sz="1400"/>
              <a:t>plt.title("Rainfall vs Yield")</a:t>
            </a:r>
            <a:endParaRPr lang="en-US" altLang="en-US" sz="1400"/>
          </a:p>
          <a:p>
            <a:r>
              <a:rPr lang="en-US" altLang="en-US" sz="1400"/>
              <a:t>plt.xlabel("Rainfall (mm)")</a:t>
            </a:r>
            <a:endParaRPr lang="en-US" altLang="en-US" sz="1400"/>
          </a:p>
          <a:p>
            <a:r>
              <a:rPr lang="en-US" altLang="en-US" sz="1400"/>
              <a:t>plt.ylabel("Yield (Tonnes/Ha)")</a:t>
            </a:r>
            <a:endParaRPr lang="en-US" altLang="en-US" sz="1400"/>
          </a:p>
          <a:p>
            <a:r>
              <a:rPr lang="en-US" altLang="en-US" sz="1400"/>
              <a:t>plt.tight_layout()</a:t>
            </a:r>
            <a:endParaRPr lang="en-US" altLang="en-US" sz="1400"/>
          </a:p>
          <a:p>
            <a:r>
              <a:rPr lang="en-US" altLang="en-US" sz="1400"/>
              <a:t>plt.show()</a:t>
            </a:r>
            <a:endParaRPr lang="en-US" altLang="en-US" sz="1400"/>
          </a:p>
          <a:p>
            <a:endParaRPr lang="en-US" altLang="en-US" sz="1400"/>
          </a:p>
          <a:p>
            <a:r>
              <a:rPr lang="en-US" altLang="en-US" sz="1400"/>
              <a:t>## 6. Key Findings</a:t>
            </a:r>
            <a:endParaRPr lang="en-US" altLang="en-US" sz="1400"/>
          </a:p>
          <a:p>
            <a:endParaRPr lang="en-US" altLang="en-US" sz="1400"/>
          </a:p>
          <a:p>
            <a:r>
              <a:rPr lang="en-US" altLang="en-US" sz="1400"/>
              <a:t>1. **Kharif has the highest average yield** among the three seasons in the supplied dataset.</a:t>
            </a:r>
            <a:endParaRPr lang="en-US" altLang="en-US" sz="1400"/>
          </a:p>
          <a:p>
            <a:r>
              <a:rPr lang="en-US" altLang="en-US" sz="1400"/>
              <a:t>2. **Kharif also has the highest average profit**, while Zaid has a negative average profit.</a:t>
            </a:r>
            <a:endParaRPr lang="en-US" altLang="en-US" sz="1400"/>
          </a:p>
          <a:p>
            <a:r>
              <a:rPr lang="en-US" altLang="en-US" sz="1400"/>
              <a:t>3. **Zaid uses the highest average amount of water**, while Rabi uses the lowest average water among the three seasons.</a:t>
            </a:r>
            <a:endParaRPr lang="en-US" altLang="en-US" sz="1400"/>
          </a:p>
          <a:p>
            <a:r>
              <a:rPr lang="en-US" altLang="en-US" sz="1400"/>
              <a:t>4. **Kharif shows the highest average disease/pest risk** in this dataset.</a:t>
            </a:r>
            <a:endParaRPr lang="en-US" altLang="en-US" sz="1400"/>
          </a:p>
          <a:p>
            <a:r>
              <a:rPr lang="en-US" altLang="en-US" sz="1400"/>
              <a:t>5. **Sugarcane has a much higher average yield** than the other crops, so crop comparisons should consider crop-specific production characteristics.</a:t>
            </a:r>
            <a:endParaRPr lang="en-US" altLang="en-US" sz="1400"/>
          </a:p>
          <a:p>
            <a:r>
              <a:rPr lang="en-US" altLang="en-US" sz="1400"/>
              <a:t>6. **Drip irrigation has the highest average yield** among the irrigation methods in the dataset.</a:t>
            </a:r>
            <a:endParaRPr lang="en-US" altLang="en-US" sz="1400"/>
          </a:p>
          <a:p>
            <a:r>
              <a:rPr lang="en-US" altLang="en-US" sz="1400"/>
              <a:t>7. The analysis identifies associations and patterns; it does **not** establish causal relationships.</a:t>
            </a:r>
            <a:endParaRPr lang="en-US" altLang="en-US" sz="1400"/>
          </a:p>
          <a:p>
            <a:endParaRPr lang="en-US" altLang="en-US" sz="1400"/>
          </a:p>
          <a:p>
            <a:endParaRPr lang="en-US" altLang="en-US" sz="1400"/>
          </a:p>
          <a:p>
            <a:r>
              <a:rPr lang="en-US" altLang="en-US" sz="1400"/>
              <a:t>## 7. Recommendations</a:t>
            </a:r>
            <a:endParaRPr lang="en-US" altLang="en-US" sz="1400"/>
          </a:p>
          <a:p>
            <a:endParaRPr lang="en-US" altLang="en-US" sz="1400"/>
          </a:p>
          <a:p>
            <a:r>
              <a:rPr lang="en-US" altLang="en-US" sz="1400"/>
              <a:t>- Use seasonal performance comparisons when planning crop and resource allocation.</a:t>
            </a:r>
            <a:endParaRPr lang="en-US" altLang="en-US" sz="1400"/>
          </a:p>
          <a:p>
            <a:r>
              <a:rPr lang="en-US" altLang="en-US" sz="1400"/>
              <a:t>- Investigate the higher disease/pest risk observed in Kharif and consider targeted monitoring.</a:t>
            </a:r>
            <a:endParaRPr lang="en-US" altLang="en-US" sz="1400"/>
          </a:p>
          <a:p>
            <a:r>
              <a:rPr lang="en-US" altLang="en-US" sz="1400"/>
              <a:t>- Evaluate drip irrigation practices for situations where water efficiency and yield are priorities.</a:t>
            </a:r>
            <a:endParaRPr lang="en-US" altLang="en-US" sz="1400"/>
          </a:p>
          <a:p>
            <a:r>
              <a:rPr lang="en-US" altLang="en-US" sz="1400"/>
              <a:t>- Review Zaid-season costs, water use and market outcomes because its average profit is negative.</a:t>
            </a:r>
            <a:endParaRPr lang="en-US" altLang="en-US" sz="1400"/>
          </a:p>
          <a:p>
            <a:r>
              <a:rPr lang="en-US" altLang="en-US" sz="1400"/>
              <a:t>- Analyze crop-specific economics rather than relying only on overall yield because crop types have very different yield scales.</a:t>
            </a:r>
            <a:endParaRPr lang="en-US" altLang="en-US" sz="1400"/>
          </a:p>
          <a:p>
            <a:r>
              <a:rPr lang="en-US" altLang="en-US" sz="1400"/>
              <a:t>- Continue collecting consistent environmental, resource and economic data to improve future seasonal planning.</a:t>
            </a:r>
            <a:endParaRPr lang="en-US" altLang="en-US" sz="1400"/>
          </a:p>
          <a:p>
            <a:endParaRPr lang="en-US" altLang="en-US" sz="1400"/>
          </a:p>
          <a:p>
            <a:endParaRPr lang="en-US" altLang="en-US" sz="14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94360" y="411480"/>
            <a:ext cx="10972800" cy="640080"/>
          </a:xfrm>
          <a:prstGeom prst="rect">
            <a:avLst/>
          </a:prstGeom>
          <a:noFill/>
        </p:spPr>
        <p:txBody>
          <a:bodyPr wrap="none">
            <a:spAutoFit/>
          </a:bodyPr>
          <a:lstStyle/>
          <a:p>
            <a:pPr>
              <a:defRPr sz="2800" b="1"/>
            </a:pPr>
            <a:r>
              <a:t>Results – Average Yield by Season</a:t>
            </a:r>
          </a:p>
        </p:txBody>
      </p:sp>
      <p:pic>
        <p:nvPicPr>
          <p:cNvPr id="3" name="Picture 2" descr="01_average_yield_by_season.png"/>
          <p:cNvPicPr>
            <a:picLocks noChangeAspect="1"/>
          </p:cNvPicPr>
          <p:nvPr/>
        </p:nvPicPr>
        <p:blipFill>
          <a:blip r:embed="rId1"/>
          <a:stretch>
            <a:fillRect/>
          </a:stretch>
        </p:blipFill>
        <p:spPr>
          <a:xfrm>
            <a:off x="925830" y="1175385"/>
            <a:ext cx="7940675" cy="496316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94360" y="411480"/>
            <a:ext cx="10972800" cy="640080"/>
          </a:xfrm>
          <a:prstGeom prst="rect">
            <a:avLst/>
          </a:prstGeom>
          <a:noFill/>
        </p:spPr>
        <p:txBody>
          <a:bodyPr wrap="none">
            <a:spAutoFit/>
          </a:bodyPr>
          <a:lstStyle/>
          <a:p>
            <a:pPr>
              <a:defRPr sz="2800" b="1"/>
            </a:pPr>
            <a:r>
              <a:t>Results – Average Profit by Season</a:t>
            </a:r>
          </a:p>
        </p:txBody>
      </p:sp>
      <p:pic>
        <p:nvPicPr>
          <p:cNvPr id="3" name="Picture 2" descr="02_average_profit_by_season.png"/>
          <p:cNvPicPr>
            <a:picLocks noChangeAspect="1"/>
          </p:cNvPicPr>
          <p:nvPr/>
        </p:nvPicPr>
        <p:blipFill>
          <a:blip r:embed="rId1"/>
          <a:stretch>
            <a:fillRect/>
          </a:stretch>
        </p:blipFill>
        <p:spPr>
          <a:xfrm>
            <a:off x="914400" y="1417320"/>
            <a:ext cx="8104505" cy="506539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94360" y="411480"/>
            <a:ext cx="10972800" cy="640080"/>
          </a:xfrm>
          <a:prstGeom prst="rect">
            <a:avLst/>
          </a:prstGeom>
          <a:noFill/>
        </p:spPr>
        <p:txBody>
          <a:bodyPr wrap="none">
            <a:spAutoFit/>
          </a:bodyPr>
          <a:lstStyle/>
          <a:p>
            <a:pPr>
              <a:defRPr sz="2800" b="1"/>
            </a:pPr>
            <a:r>
              <a:t>Results – Average Yield by Crop</a:t>
            </a:r>
          </a:p>
        </p:txBody>
      </p:sp>
      <p:pic>
        <p:nvPicPr>
          <p:cNvPr id="3" name="Picture 2" descr="03_average_yield_by_crop.png"/>
          <p:cNvPicPr>
            <a:picLocks noChangeAspect="1"/>
          </p:cNvPicPr>
          <p:nvPr/>
        </p:nvPicPr>
        <p:blipFill>
          <a:blip r:embed="rId1"/>
          <a:stretch>
            <a:fillRect/>
          </a:stretch>
        </p:blipFill>
        <p:spPr>
          <a:xfrm>
            <a:off x="914400" y="1417320"/>
            <a:ext cx="8277860" cy="459867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94360" y="411480"/>
            <a:ext cx="10972800" cy="640080"/>
          </a:xfrm>
          <a:prstGeom prst="rect">
            <a:avLst/>
          </a:prstGeom>
          <a:noFill/>
        </p:spPr>
        <p:txBody>
          <a:bodyPr wrap="none">
            <a:spAutoFit/>
          </a:bodyPr>
          <a:lstStyle/>
          <a:p>
            <a:pPr>
              <a:defRPr sz="2800" b="1"/>
            </a:pPr>
            <a:r>
              <a:t>Results – Yield by Irrigation Method</a:t>
            </a:r>
          </a:p>
        </p:txBody>
      </p:sp>
      <p:pic>
        <p:nvPicPr>
          <p:cNvPr id="3" name="Picture 2" descr="04_yield_by_irrigation.png"/>
          <p:cNvPicPr>
            <a:picLocks noChangeAspect="1"/>
          </p:cNvPicPr>
          <p:nvPr/>
        </p:nvPicPr>
        <p:blipFill>
          <a:blip r:embed="rId1"/>
          <a:stretch>
            <a:fillRect/>
          </a:stretch>
        </p:blipFill>
        <p:spPr>
          <a:xfrm>
            <a:off x="914400" y="1417320"/>
            <a:ext cx="8508365" cy="531749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94360" y="411480"/>
            <a:ext cx="10972800" cy="640080"/>
          </a:xfrm>
          <a:prstGeom prst="rect">
            <a:avLst/>
          </a:prstGeom>
          <a:noFill/>
        </p:spPr>
        <p:txBody>
          <a:bodyPr wrap="none">
            <a:spAutoFit/>
          </a:bodyPr>
          <a:lstStyle/>
          <a:p>
            <a:pPr>
              <a:defRPr sz="2800" b="1"/>
            </a:pPr>
            <a:r>
              <a:t>Results – Rainfall vs Yield</a:t>
            </a:r>
          </a:p>
        </p:txBody>
      </p:sp>
      <p:pic>
        <p:nvPicPr>
          <p:cNvPr id="3" name="Picture 2" descr="05_rainfall_vs_yield.png"/>
          <p:cNvPicPr>
            <a:picLocks noChangeAspect="1"/>
          </p:cNvPicPr>
          <p:nvPr/>
        </p:nvPicPr>
        <p:blipFill>
          <a:blip r:embed="rId1"/>
          <a:stretch>
            <a:fillRect/>
          </a:stretch>
        </p:blipFill>
        <p:spPr>
          <a:xfrm>
            <a:off x="914400" y="1417320"/>
            <a:ext cx="8185150" cy="511556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94360" y="411480"/>
            <a:ext cx="10972800" cy="640080"/>
          </a:xfrm>
          <a:prstGeom prst="rect">
            <a:avLst/>
          </a:prstGeom>
          <a:noFill/>
        </p:spPr>
        <p:txBody>
          <a:bodyPr wrap="none">
            <a:spAutoFit/>
          </a:bodyPr>
          <a:lstStyle/>
          <a:p>
            <a:pPr>
              <a:defRPr sz="2800" b="1"/>
            </a:pPr>
            <a:r>
              <a:t>Key Findings</a:t>
            </a:r>
          </a:p>
        </p:txBody>
      </p:sp>
      <p:sp>
        <p:nvSpPr>
          <p:cNvPr id="3" name="TextBox 2"/>
          <p:cNvSpPr txBox="1"/>
          <p:nvPr/>
        </p:nvSpPr>
        <p:spPr>
          <a:xfrm>
            <a:off x="731520" y="1508760"/>
            <a:ext cx="10698480" cy="4389120"/>
          </a:xfrm>
          <a:prstGeom prst="rect">
            <a:avLst/>
          </a:prstGeom>
          <a:noFill/>
        </p:spPr>
        <p:txBody>
          <a:bodyPr wrap="square">
            <a:spAutoFit/>
          </a:bodyPr>
          <a:lstStyle/>
          <a:p>
            <a:pPr>
              <a:spcAft>
                <a:spcPts val="1000"/>
              </a:spcAft>
              <a:defRPr sz="1800"/>
            </a:pPr>
            <a:r>
              <a:t>Kharif has the highest average yield: 5.63 tonnes/ha.</a:t>
            </a:r>
          </a:p>
          <a:p>
            <a:pPr>
              <a:spcAft>
                <a:spcPts val="1000"/>
              </a:spcAft>
              <a:defRPr sz="1800"/>
            </a:pPr>
            <a:r>
              <a:t>Kharif has the highest average profit: ₹178,914.65.</a:t>
            </a:r>
          </a:p>
          <a:p>
            <a:pPr>
              <a:spcAft>
                <a:spcPts val="1000"/>
              </a:spcAft>
              <a:defRPr sz="1800"/>
            </a:pPr>
            <a:r>
              <a:t>Zaid has the lowest average yield: 4.64 tonnes/ha and negative average profit.</a:t>
            </a:r>
          </a:p>
          <a:p>
            <a:pPr>
              <a:spcAft>
                <a:spcPts val="1000"/>
              </a:spcAft>
              <a:defRPr sz="1800"/>
            </a:pPr>
            <a:r>
              <a:t>Zaid has the highest average water use: 6,419.89 m³.</a:t>
            </a:r>
          </a:p>
          <a:p>
            <a:pPr>
              <a:spcAft>
                <a:spcPts val="1000"/>
              </a:spcAft>
              <a:defRPr sz="1800"/>
            </a:pPr>
            <a:r>
              <a:t>Kharif has the highest average disease/pest risk: 54.47%.</a:t>
            </a:r>
          </a:p>
          <a:p>
            <a:pPr>
              <a:spcAft>
                <a:spcPts val="1000"/>
              </a:spcAft>
              <a:defRPr sz="1800"/>
            </a:pPr>
            <a:r>
              <a:t>Drip irrigation has the highest average yield among irrigation methods.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94360" y="411480"/>
            <a:ext cx="10972800" cy="640080"/>
          </a:xfrm>
          <a:prstGeom prst="rect">
            <a:avLst/>
          </a:prstGeom>
          <a:noFill/>
        </p:spPr>
        <p:txBody>
          <a:bodyPr wrap="none">
            <a:spAutoFit/>
          </a:bodyPr>
          <a:lstStyle/>
          <a:p>
            <a:pPr>
              <a:defRPr sz="2800" b="1"/>
            </a:pPr>
            <a:r>
              <a:t>Future Scope</a:t>
            </a:r>
          </a:p>
        </p:txBody>
      </p:sp>
      <p:sp>
        <p:nvSpPr>
          <p:cNvPr id="3" name="TextBox 2"/>
          <p:cNvSpPr txBox="1"/>
          <p:nvPr/>
        </p:nvSpPr>
        <p:spPr>
          <a:xfrm>
            <a:off x="731520" y="1508760"/>
            <a:ext cx="10698480" cy="4389120"/>
          </a:xfrm>
          <a:prstGeom prst="rect">
            <a:avLst/>
          </a:prstGeom>
          <a:noFill/>
        </p:spPr>
        <p:txBody>
          <a:bodyPr wrap="square">
            <a:spAutoFit/>
          </a:bodyPr>
          <a:lstStyle/>
          <a:p>
            <a:pPr>
              <a:spcAft>
                <a:spcPts val="1000"/>
              </a:spcAft>
              <a:defRPr sz="1800"/>
            </a:pPr>
            <a:r>
              <a:t>Build an interactive Power BI dashboard for seasonal monitoring.</a:t>
            </a:r>
          </a:p>
          <a:p>
            <a:pPr>
              <a:spcAft>
                <a:spcPts val="1000"/>
              </a:spcAft>
              <a:defRPr sz="1800"/>
            </a:pPr>
            <a:r>
              <a:t>Add time-series data to study multi-year seasonal changes.</a:t>
            </a:r>
          </a:p>
          <a:p>
            <a:pPr>
              <a:spcAft>
                <a:spcPts val="1000"/>
              </a:spcAft>
              <a:defRPr sz="1800"/>
            </a:pPr>
            <a:r>
              <a:t>Use predictive models for yield and profit forecasting.</a:t>
            </a:r>
          </a:p>
          <a:p>
            <a:pPr>
              <a:spcAft>
                <a:spcPts val="1000"/>
              </a:spcAft>
              <a:defRPr sz="1800"/>
            </a:pPr>
            <a:r>
              <a:t>Develop region-specific recommendations using district-level analysis.</a:t>
            </a:r>
          </a:p>
          <a:p>
            <a:pPr>
              <a:spcAft>
                <a:spcPts val="1000"/>
              </a:spcAft>
              <a:defRPr sz="1800"/>
            </a:pPr>
            <a:r>
              <a:t>Add weather forecasts and market-price feeds for real-time decision support.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a:picLocks noChangeAspect="1"/>
          </p:cNvPicPr>
          <p:nvPr/>
        </p:nvPicPr>
        <p:blipFill>
          <a:blip r:embed="rId1"/>
          <a:stretch>
            <a:fillRect/>
          </a:stretch>
        </p:blipFill>
        <p:spPr>
          <a:xfrm>
            <a:off x="1274445" y="519430"/>
            <a:ext cx="9641840" cy="571373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94360" y="411480"/>
            <a:ext cx="10972800" cy="640080"/>
          </a:xfrm>
          <a:prstGeom prst="rect">
            <a:avLst/>
          </a:prstGeom>
          <a:noFill/>
        </p:spPr>
        <p:txBody>
          <a:bodyPr wrap="none">
            <a:spAutoFit/>
          </a:bodyPr>
          <a:lstStyle/>
          <a:p>
            <a:pPr>
              <a:defRPr sz="2800" b="1"/>
            </a:pPr>
            <a:r>
              <a:t>GitHub Link</a:t>
            </a:r>
          </a:p>
        </p:txBody>
      </p:sp>
      <p:sp>
        <p:nvSpPr>
          <p:cNvPr id="3" name="TextBox 2"/>
          <p:cNvSpPr txBox="1"/>
          <p:nvPr/>
        </p:nvSpPr>
        <p:spPr>
          <a:xfrm>
            <a:off x="731520" y="1508760"/>
            <a:ext cx="10698480" cy="1050290"/>
          </a:xfrm>
          <a:prstGeom prst="rect">
            <a:avLst/>
          </a:prstGeom>
          <a:noFill/>
        </p:spPr>
        <p:txBody>
          <a:bodyPr wrap="square">
            <a:spAutoFit/>
          </a:bodyPr>
          <a:lstStyle/>
          <a:p>
            <a:pPr>
              <a:spcAft>
                <a:spcPts val="1000"/>
              </a:spcAft>
              <a:defRPr sz="1800"/>
            </a:pPr>
            <a:r>
              <a:t>Upload the notebook, cleaned dataset, charts and README to your GitHub repository.</a:t>
            </a:r>
          </a:p>
          <a:p>
            <a:pPr>
              <a:spcAft>
                <a:spcPts val="1000"/>
              </a:spcAft>
              <a:defRPr sz="1800"/>
            </a:pPr>
            <a:r>
              <a:t>Suggested repository name: </a:t>
            </a:r>
            <a:r>
              <a:rPr lang="en-US" altLang="en-US"/>
              <a:t>git@github.com:sachikangutkar/Seasonal-Agriculture-Performance-Analysis-project.git</a:t>
            </a:r>
            <a:endParaRPr lang="en-US"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94360" y="411480"/>
            <a:ext cx="10972800" cy="640080"/>
          </a:xfrm>
          <a:prstGeom prst="rect">
            <a:avLst/>
          </a:prstGeom>
          <a:noFill/>
        </p:spPr>
        <p:txBody>
          <a:bodyPr wrap="none">
            <a:spAutoFit/>
          </a:bodyPr>
          <a:lstStyle/>
          <a:p>
            <a:pPr>
              <a:defRPr sz="2800" b="1"/>
            </a:pPr>
            <a:r>
              <a:t>Conclusion</a:t>
            </a:r>
          </a:p>
        </p:txBody>
      </p:sp>
      <p:sp>
        <p:nvSpPr>
          <p:cNvPr id="3" name="TextBox 2"/>
          <p:cNvSpPr txBox="1"/>
          <p:nvPr/>
        </p:nvSpPr>
        <p:spPr>
          <a:xfrm>
            <a:off x="731520" y="1508760"/>
            <a:ext cx="10698480" cy="4389120"/>
          </a:xfrm>
          <a:prstGeom prst="rect">
            <a:avLst/>
          </a:prstGeom>
          <a:noFill/>
        </p:spPr>
        <p:txBody>
          <a:bodyPr wrap="square">
            <a:spAutoFit/>
          </a:bodyPr>
          <a:lstStyle/>
          <a:p>
            <a:pPr>
              <a:spcAft>
                <a:spcPts val="1000"/>
              </a:spcAft>
              <a:defRPr sz="1800"/>
            </a:pPr>
            <a:r>
              <a:t>The dataset shows meaningful differences in yield, profit, water use and disease/pest risk across seasons.</a:t>
            </a:r>
          </a:p>
          <a:p>
            <a:pPr>
              <a:spcAft>
                <a:spcPts val="1000"/>
              </a:spcAft>
              <a:defRPr sz="1800"/>
            </a:pPr>
            <a:r>
              <a:t>Seasonal, crop and irrigation comparisons can support evidence-based agricultural planning.</a:t>
            </a:r>
          </a:p>
          <a:p>
            <a:pPr>
              <a:spcAft>
                <a:spcPts val="1000"/>
              </a:spcAft>
              <a:defRPr sz="1800"/>
            </a:pPr>
            <a:r>
              <a:t>The results describe observed patterns; further investigation is needed before causal decisions.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94360" y="411480"/>
            <a:ext cx="8534400" cy="4154170"/>
          </a:xfrm>
          <a:prstGeom prst="rect">
            <a:avLst/>
          </a:prstGeom>
          <a:noFill/>
        </p:spPr>
        <p:txBody>
          <a:bodyPr wrap="none">
            <a:spAutoFit/>
          </a:bodyPr>
          <a:lstStyle/>
          <a:p>
            <a:pPr>
              <a:defRPr sz="2800" b="1"/>
            </a:pPr>
            <a:r>
              <a:rPr lang="en-US"/>
              <a:t>                                                           </a:t>
            </a:r>
            <a:endParaRPr lang="en-US"/>
          </a:p>
          <a:p>
            <a:pPr>
              <a:defRPr sz="2800" b="1"/>
            </a:pPr>
            <a:endParaRPr lang="en-US"/>
          </a:p>
          <a:p>
            <a:pPr>
              <a:defRPr sz="2800" b="1"/>
            </a:pPr>
            <a:endParaRPr lang="en-US"/>
          </a:p>
          <a:p>
            <a:pPr>
              <a:defRPr sz="2800" b="1"/>
            </a:pPr>
            <a:endParaRPr lang="en-US"/>
          </a:p>
          <a:p>
            <a:pPr>
              <a:defRPr sz="2800" b="1"/>
            </a:pPr>
            <a:endParaRPr lang="en-US"/>
          </a:p>
          <a:p>
            <a:pPr>
              <a:defRPr sz="2800" b="1"/>
            </a:pPr>
            <a:endParaRPr lang="en-US"/>
          </a:p>
          <a:p>
            <a:pPr>
              <a:defRPr sz="2800" b="1"/>
            </a:pPr>
            <a:r>
              <a:rPr lang="en-US"/>
              <a:t>                                </a:t>
            </a:r>
            <a:r>
              <a:rPr lang="en-US" sz="9600"/>
              <a:t>  </a:t>
            </a:r>
            <a:r>
              <a:rPr sz="9600"/>
              <a:t>Thank You</a:t>
            </a:r>
            <a:endParaRPr sz="96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9291</Words>
  <Application>WPS Presentation</Application>
  <PresentationFormat>On-screen Show (4:3)</PresentationFormat>
  <Paragraphs>263</Paragraphs>
  <Slides>23</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23</vt:i4>
      </vt:variant>
    </vt:vector>
  </HeadingPairs>
  <TitlesOfParts>
    <vt:vector size="32" baseType="lpstr">
      <vt:lpstr>Arial</vt:lpstr>
      <vt:lpstr>SimSun</vt:lpstr>
      <vt:lpstr>Wingdings</vt:lpstr>
      <vt:lpstr>Arial</vt:lpstr>
      <vt:lpstr>Calibri</vt:lpstr>
      <vt:lpstr>Microsoft YaHei</vt:lpstr>
      <vt:lpstr>Arial Unicode MS</vt:lpstr>
      <vt:lpstr>Consolas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Sachi Kangutkar</cp:lastModifiedBy>
  <cp:revision>6</cp:revision>
  <dcterms:created xsi:type="dcterms:W3CDTF">2013-01-27T09:14:00Z</dcterms:created>
  <dcterms:modified xsi:type="dcterms:W3CDTF">2026-09-15T05:17:59Z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1033-12.1.0.28032</vt:lpwstr>
  </property>
  <property fmtid="{D5CDD505-2E9C-101B-9397-08002B2CF9AE}" pid="3" name="ICV">
    <vt:lpwstr>596724524D524D3E9B39E395E47BA699_13</vt:lpwstr>
  </property>
</Properties>
</file>